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2" r:id="rId9"/>
    <p:sldId id="265" r:id="rId10"/>
    <p:sldId id="266" r:id="rId11"/>
    <p:sldId id="267" r:id="rId12"/>
    <p:sldId id="269" r:id="rId13"/>
    <p:sldId id="270" r:id="rId14"/>
    <p:sldId id="271" r:id="rId15"/>
    <p:sldId id="273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500" y="69850"/>
            <a:ext cx="9013825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71247"/>
                </a:moveTo>
                <a:lnTo>
                  <a:pt x="5600" y="43560"/>
                </a:lnTo>
                <a:lnTo>
                  <a:pt x="20877" y="20827"/>
                </a:lnTo>
                <a:lnTo>
                  <a:pt x="43534" y="5588"/>
                </a:lnTo>
                <a:lnTo>
                  <a:pt x="71285" y="0"/>
                </a:lnTo>
                <a:lnTo>
                  <a:pt x="8942578" y="0"/>
                </a:lnTo>
                <a:lnTo>
                  <a:pt x="8982075" y="11938"/>
                </a:lnTo>
                <a:lnTo>
                  <a:pt x="9008364" y="43942"/>
                </a:lnTo>
                <a:lnTo>
                  <a:pt x="9013825" y="71247"/>
                </a:lnTo>
                <a:lnTo>
                  <a:pt x="9013825" y="6621614"/>
                </a:lnTo>
                <a:lnTo>
                  <a:pt x="9008237" y="6649364"/>
                </a:lnTo>
                <a:lnTo>
                  <a:pt x="8992997" y="6672021"/>
                </a:lnTo>
                <a:lnTo>
                  <a:pt x="8970264" y="6687296"/>
                </a:lnTo>
                <a:lnTo>
                  <a:pt x="8942578" y="6692898"/>
                </a:lnTo>
                <a:lnTo>
                  <a:pt x="71285" y="6692898"/>
                </a:lnTo>
                <a:lnTo>
                  <a:pt x="43534" y="6687296"/>
                </a:lnTo>
                <a:lnTo>
                  <a:pt x="20877" y="6672021"/>
                </a:lnTo>
                <a:lnTo>
                  <a:pt x="5600" y="6649364"/>
                </a:lnTo>
                <a:lnTo>
                  <a:pt x="0" y="6621614"/>
                </a:lnTo>
                <a:lnTo>
                  <a:pt x="0" y="71247"/>
                </a:lnTo>
                <a:close/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1" y="-47470"/>
            <a:ext cx="8941803" cy="963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0350" y="1365250"/>
            <a:ext cx="8547100" cy="4663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179195"/>
            <a:chOff x="-4762" y="-4762"/>
            <a:chExt cx="9153525" cy="1179195"/>
          </a:xfrm>
        </p:grpSpPr>
        <p:sp>
          <p:nvSpPr>
            <p:cNvPr id="3" name="object 3"/>
            <p:cNvSpPr/>
            <p:nvPr/>
          </p:nvSpPr>
          <p:spPr>
            <a:xfrm>
              <a:off x="0" y="-12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0"/>
                  </a:moveTo>
                  <a:lnTo>
                    <a:pt x="0" y="0"/>
                  </a:lnTo>
                  <a:lnTo>
                    <a:pt x="0" y="1169555"/>
                  </a:lnTo>
                  <a:lnTo>
                    <a:pt x="9144000" y="11695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34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169670"/>
            </a:xfrm>
            <a:custGeom>
              <a:avLst/>
              <a:gdLst/>
              <a:ahLst/>
              <a:cxnLst/>
              <a:rect l="l" t="t" r="r" b="b"/>
              <a:pathLst>
                <a:path w="9144000" h="1169670">
                  <a:moveTo>
                    <a:pt x="9144000" y="1169542"/>
                  </a:moveTo>
                  <a:lnTo>
                    <a:pt x="0" y="116954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197610">
              <a:lnSpc>
                <a:spcPct val="100000"/>
              </a:lnSpc>
              <a:spcBef>
                <a:spcPts val="440"/>
              </a:spcBef>
            </a:pP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Yeshwantrao</a:t>
            </a:r>
            <a:r>
              <a:rPr sz="32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Chavan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3200">
              <a:latin typeface="Times New Roman"/>
              <a:cs typeface="Times New Roman"/>
            </a:endParaRPr>
          </a:p>
          <a:p>
            <a:pPr marL="1184910" marR="368300" algn="ctr">
              <a:lnSpc>
                <a:spcPct val="100000"/>
              </a:lnSpc>
              <a:spcBef>
                <a:spcPts val="229"/>
              </a:spcBef>
            </a:pP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Department</a:t>
            </a:r>
            <a:r>
              <a:rPr sz="2200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of</a:t>
            </a:r>
            <a:r>
              <a:rPr sz="22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00"/>
                </a:solidFill>
                <a:latin typeface="Times New Roman"/>
                <a:cs typeface="Times New Roman"/>
              </a:rPr>
              <a:t>Electronics</a:t>
            </a:r>
            <a:r>
              <a:rPr sz="2200" spc="3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00" y="136525"/>
            <a:ext cx="9152255" cy="6715125"/>
            <a:chOff x="12700" y="136525"/>
            <a:chExt cx="9152255" cy="67151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6525"/>
              <a:ext cx="917575" cy="930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99" y="1219198"/>
              <a:ext cx="9025255" cy="5568950"/>
            </a:xfrm>
            <a:custGeom>
              <a:avLst/>
              <a:gdLst/>
              <a:ahLst/>
              <a:cxnLst/>
              <a:rect l="l" t="t" r="r" b="b"/>
              <a:pathLst>
                <a:path w="9025255" h="5568950">
                  <a:moveTo>
                    <a:pt x="0" y="5568696"/>
                  </a:moveTo>
                  <a:lnTo>
                    <a:pt x="9025128" y="5568696"/>
                  </a:lnTo>
                  <a:lnTo>
                    <a:pt x="9025128" y="0"/>
                  </a:lnTo>
                  <a:lnTo>
                    <a:pt x="0" y="0"/>
                  </a:lnTo>
                  <a:lnTo>
                    <a:pt x="0" y="5568696"/>
                  </a:lnTo>
                  <a:close/>
                </a:path>
              </a:pathLst>
            </a:custGeom>
            <a:ln w="126998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201" y="1524000"/>
            <a:ext cx="8229600" cy="41107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9805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1F5F"/>
                </a:solidFill>
                <a:latin typeface="Arial"/>
                <a:cs typeface="Arial"/>
              </a:rPr>
              <a:t>Project</a:t>
            </a:r>
            <a:r>
              <a:rPr sz="28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Arial"/>
                <a:cs typeface="Arial"/>
              </a:rPr>
              <a:t>Title</a:t>
            </a:r>
            <a:endParaRPr sz="280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25"/>
              </a:spcBef>
              <a:tabLst>
                <a:tab pos="3804285" algn="l"/>
                <a:tab pos="4432300" algn="l"/>
              </a:tabLst>
            </a:pPr>
            <a:r>
              <a:rPr sz="2000" b="1" dirty="0">
                <a:latin typeface="Arial"/>
                <a:cs typeface="Arial"/>
              </a:rPr>
              <a:t>An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Intelligent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Emergency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Alert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5" dirty="0">
                <a:latin typeface="Arial"/>
                <a:cs typeface="Arial"/>
              </a:rPr>
              <a:t>And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Wireless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Tracking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 dirty="0">
              <a:latin typeface="Arial"/>
              <a:cs typeface="Arial"/>
            </a:endParaRPr>
          </a:p>
          <a:p>
            <a:pPr marL="99695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Presented</a:t>
            </a:r>
            <a:r>
              <a:rPr sz="2400" b="1" spc="-1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By</a:t>
            </a:r>
            <a:r>
              <a:rPr sz="2400" b="1" spc="-8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Students</a:t>
            </a:r>
            <a:endParaRPr sz="240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Arial"/>
                <a:cs typeface="Arial"/>
              </a:rPr>
              <a:t>               </a:t>
            </a:r>
            <a:r>
              <a:rPr sz="2000" b="1" spc="-10" dirty="0">
                <a:latin typeface="Arial"/>
                <a:cs typeface="Arial"/>
              </a:rPr>
              <a:t>1.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Mrunali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Jibhakate</a:t>
            </a:r>
            <a:r>
              <a:rPr lang="en-IN" sz="1800" b="1" spc="365" dirty="0">
                <a:latin typeface="Arial"/>
                <a:cs typeface="Arial"/>
              </a:rPr>
              <a:t> </a:t>
            </a: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2.</a:t>
            </a:r>
            <a:r>
              <a:rPr lang="en-IN" b="1" spc="-8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Palak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Nikhare</a:t>
            </a:r>
            <a:endParaRPr lang="en-IN" spc="-1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2000" b="1" dirty="0">
                <a:latin typeface="Arial"/>
                <a:cs typeface="Arial"/>
              </a:rPr>
              <a:t>               3</a:t>
            </a:r>
            <a:r>
              <a:rPr lang="en-IN" sz="1800" b="1" dirty="0">
                <a:latin typeface="Arial"/>
                <a:cs typeface="Arial"/>
              </a:rPr>
              <a:t>.</a:t>
            </a:r>
            <a:r>
              <a:rPr lang="en-IN" sz="1800" b="1" spc="-6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Sakshi</a:t>
            </a:r>
            <a:r>
              <a:rPr lang="en-IN" sz="1800" b="1" spc="-4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Raut</a:t>
            </a:r>
            <a:endParaRPr lang="en-IN" b="1" spc="395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4.</a:t>
            </a:r>
            <a:r>
              <a:rPr lang="en-IN" sz="1800" b="1" spc="-5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Gauri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20" dirty="0" err="1">
                <a:latin typeface="Arial"/>
                <a:cs typeface="Arial"/>
              </a:rPr>
              <a:t>Sitre</a:t>
            </a:r>
            <a:endParaRPr lang="en-IN" spc="-20" dirty="0">
              <a:latin typeface="Arial"/>
              <a:cs typeface="Arial"/>
            </a:endParaRPr>
          </a:p>
          <a:p>
            <a:pPr marL="1297305" algn="l">
              <a:lnSpc>
                <a:spcPct val="100000"/>
              </a:lnSpc>
              <a:spcBef>
                <a:spcPts val="5"/>
              </a:spcBef>
            </a:pPr>
            <a:r>
              <a:rPr lang="en-IN" sz="1800" b="1" dirty="0">
                <a:latin typeface="Arial"/>
                <a:cs typeface="Arial"/>
              </a:rPr>
              <a:t>                 5.</a:t>
            </a:r>
            <a:r>
              <a:rPr lang="en-IN" sz="1800" b="1" spc="-7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Karan</a:t>
            </a:r>
            <a:r>
              <a:rPr lang="en-IN" sz="1800" b="1" spc="-55" dirty="0">
                <a:latin typeface="Arial"/>
                <a:cs typeface="Arial"/>
              </a:rPr>
              <a:t> </a:t>
            </a:r>
            <a:r>
              <a:rPr lang="en-IN" sz="1800" b="1" spc="-10" dirty="0" err="1">
                <a:latin typeface="Arial"/>
                <a:cs typeface="Arial"/>
              </a:rPr>
              <a:t>Nehare</a:t>
            </a:r>
            <a:endParaRPr lang="en-IN"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800" dirty="0">
              <a:latin typeface="Arial"/>
              <a:cs typeface="Arial"/>
            </a:endParaRPr>
          </a:p>
          <a:p>
            <a:pPr marR="984250"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Under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2400" b="1" spc="-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Guidance</a:t>
            </a:r>
            <a:r>
              <a:rPr sz="2400" b="1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1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Name</a:t>
            </a:r>
            <a:r>
              <a:rPr sz="2400" b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400" b="1" spc="-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Arial"/>
                <a:cs typeface="Arial"/>
              </a:rPr>
              <a:t>Guide</a:t>
            </a:r>
            <a:endParaRPr sz="2400" dirty="0">
              <a:latin typeface="Arial"/>
              <a:cs typeface="Arial"/>
            </a:endParaRPr>
          </a:p>
          <a:p>
            <a:pPr marR="986155" algn="ctr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Prof.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Rupali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Balpande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419850"/>
            <a:ext cx="9144000" cy="165100"/>
            <a:chOff x="0" y="6419850"/>
            <a:chExt cx="9144000" cy="165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19049" y="527047"/>
            <a:ext cx="9163050" cy="6350000"/>
            <a:chOff x="-19049" y="527047"/>
            <a:chExt cx="9163050" cy="6350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829422"/>
              <a:ext cx="9143999" cy="285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85799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7047"/>
              <a:ext cx="57149" cy="63309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09600"/>
              <a:ext cx="0" cy="6235700"/>
            </a:xfrm>
            <a:custGeom>
              <a:avLst/>
              <a:gdLst/>
              <a:ahLst/>
              <a:cxnLst/>
              <a:rect l="l" t="t" r="r" b="b"/>
              <a:pathLst>
                <a:path h="6235700">
                  <a:moveTo>
                    <a:pt x="0" y="0"/>
                  </a:moveTo>
                  <a:lnTo>
                    <a:pt x="0" y="6235697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6049" y="527047"/>
              <a:ext cx="107948" cy="633094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77443" y="6508495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*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3864" y="6506362"/>
            <a:ext cx="29730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sz="1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1356" y="6505447"/>
            <a:ext cx="1187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3824" y="31597"/>
            <a:ext cx="8660815" cy="550251"/>
          </a:xfrm>
          <a:prstGeom prst="rect">
            <a:avLst/>
          </a:prstGeom>
        </p:spPr>
        <p:txBody>
          <a:bodyPr vert="horz" wrap="square" lIns="0" tIns="57249" rIns="0" bIns="0" rtlCol="0">
            <a:spAutoFit/>
          </a:bodyPr>
          <a:lstStyle/>
          <a:p>
            <a:pPr marL="368681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Contents</a:t>
            </a:r>
            <a:endParaRPr sz="3200" dirty="0"/>
          </a:p>
        </p:txBody>
      </p:sp>
      <p:sp>
        <p:nvSpPr>
          <p:cNvPr id="16" name="object 16"/>
          <p:cNvSpPr txBox="1"/>
          <p:nvPr/>
        </p:nvSpPr>
        <p:spPr>
          <a:xfrm>
            <a:off x="851712" y="1288161"/>
            <a:ext cx="273875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Introduction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Problem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Statement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Literature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Survey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Font typeface="Segoe UI Symbol"/>
              <a:buChar char="⚫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354965" algn="l"/>
              </a:tabLst>
            </a:pPr>
            <a:r>
              <a:rPr sz="2200" spc="-10" dirty="0">
                <a:latin typeface="Arial MT"/>
                <a:cs typeface="Arial MT"/>
              </a:rPr>
              <a:t>References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484D717-BDF0-FA12-D28D-5181B863BE7D}"/>
              </a:ext>
            </a:extLst>
          </p:cNvPr>
          <p:cNvSpPr/>
          <p:nvPr/>
        </p:nvSpPr>
        <p:spPr>
          <a:xfrm>
            <a:off x="351610" y="778345"/>
            <a:ext cx="8594954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95BA5586-E596-3BA0-CB9F-01910EDA71AC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008" rIns="0" bIns="0" rtlCol="0">
            <a:spAutoFit/>
          </a:bodyPr>
          <a:lstStyle/>
          <a:p>
            <a:pPr marL="3307079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49046" y="1427733"/>
            <a:ext cx="804862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modern</a:t>
            </a:r>
            <a:r>
              <a:rPr sz="2000" spc="12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technology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monitor,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locate,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movement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people, </a:t>
            </a:r>
            <a:r>
              <a:rPr sz="2000" dirty="0">
                <a:latin typeface="Arial MT"/>
                <a:cs typeface="Arial MT"/>
              </a:rPr>
              <a:t>vehicles,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processing.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integrating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technologies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GPS, </a:t>
            </a:r>
            <a:r>
              <a:rPr sz="2000" dirty="0">
                <a:latin typeface="Arial MT"/>
                <a:cs typeface="Arial MT"/>
              </a:rPr>
              <a:t>RFID,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IoT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sensors,</a:t>
            </a:r>
            <a:r>
              <a:rPr sz="2000" spc="1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2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networks,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enables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connections.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“intelligent”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aspect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comes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ability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analyze </a:t>
            </a:r>
            <a:r>
              <a:rPr sz="2000" dirty="0">
                <a:latin typeface="Arial MT"/>
                <a:cs typeface="Arial MT"/>
              </a:rPr>
              <a:t>collected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detect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patterns,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automated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decisions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alerts.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efficiency,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safety,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various </a:t>
            </a:r>
            <a:r>
              <a:rPr sz="2000" dirty="0">
                <a:latin typeface="Arial MT"/>
                <a:cs typeface="Arial MT"/>
              </a:rPr>
              <a:t>applications.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widely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such </a:t>
            </a:r>
            <a:r>
              <a:rPr sz="2000" dirty="0">
                <a:latin typeface="Arial MT"/>
                <a:cs typeface="Arial MT"/>
              </a:rPr>
              <a:t>as logistics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chain management,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vehicle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healthcare </a:t>
            </a:r>
            <a:r>
              <a:rPr sz="2000" dirty="0">
                <a:latin typeface="Arial MT"/>
                <a:cs typeface="Arial MT"/>
              </a:rPr>
              <a:t>monitoring,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infrastructure.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091F531F-004C-4E49-95F4-8E273326DC34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496D45E7-99F8-3928-54EA-AD29E81A48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E71DBAD7-6F0A-F7A4-820E-DB13636DCB7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BCE647-9092-CD2D-35E7-3AF894365641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FF33BD-70E0-3F4F-9569-F9850A7A1325}"/>
              </a:ext>
            </a:extLst>
          </p:cNvPr>
          <p:cNvSpPr/>
          <p:nvPr/>
        </p:nvSpPr>
        <p:spPr>
          <a:xfrm>
            <a:off x="279901" y="1157014"/>
            <a:ext cx="8534400" cy="4752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68CCC9F-18D4-879F-8FF8-BD23C358AECD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-255801"/>
            <a:ext cx="8941803" cy="963267"/>
          </a:xfrm>
          <a:prstGeom prst="rect">
            <a:avLst/>
          </a:prstGeom>
        </p:spPr>
        <p:txBody>
          <a:bodyPr vert="horz" wrap="square" lIns="0" tIns="217599" rIns="0" bIns="0" rtlCol="0">
            <a:spAutoFit/>
          </a:bodyPr>
          <a:lstStyle/>
          <a:p>
            <a:pPr marL="272859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</a:t>
            </a:r>
            <a:r>
              <a:rPr sz="3200" spc="-135" dirty="0"/>
              <a:t> </a:t>
            </a:r>
            <a:r>
              <a:rPr sz="3200" spc="-10" dirty="0"/>
              <a:t>Statement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46931" y="1506772"/>
            <a:ext cx="7800340" cy="398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indent="3702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82905" algn="l"/>
                <a:tab pos="1428115" algn="l"/>
                <a:tab pos="2009139" algn="l"/>
                <a:tab pos="2888615" algn="l"/>
                <a:tab pos="3681095" algn="l"/>
                <a:tab pos="4401820" algn="l"/>
                <a:tab pos="5010150" algn="l"/>
                <a:tab pos="5988685" algn="l"/>
                <a:tab pos="6896100" algn="l"/>
              </a:tabLst>
            </a:pPr>
            <a:r>
              <a:rPr sz="2000" spc="-10" dirty="0">
                <a:latin typeface="Arial MT"/>
                <a:cs typeface="Arial MT"/>
              </a:rPr>
              <a:t>Remote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critical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areas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often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lack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reliable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mobile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network connectivity.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People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12700" marR="5080" indent="316230">
              <a:lnSpc>
                <a:spcPct val="100000"/>
              </a:lnSpc>
              <a:buAutoNum type="arabicPeriod"/>
              <a:tabLst>
                <a:tab pos="328930" algn="l"/>
              </a:tabLst>
            </a:pP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heavily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internet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cellular networks.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2000" dirty="0">
              <a:latin typeface="Arial MT"/>
              <a:cs typeface="Arial MT"/>
            </a:endParaRPr>
          </a:p>
          <a:p>
            <a:pPr marL="310515" indent="-297815">
              <a:lnSpc>
                <a:spcPct val="100000"/>
              </a:lnSpc>
              <a:buAutoNum type="arabicPeriod"/>
              <a:tabLst>
                <a:tab pos="310515" algn="l"/>
              </a:tabLst>
            </a:pPr>
            <a:r>
              <a:rPr sz="2000" spc="-10" dirty="0">
                <a:latin typeface="Arial MT"/>
                <a:cs typeface="Arial MT"/>
              </a:rPr>
              <a:t>Satellite-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expensive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widely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accessible.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 indent="35369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66395" algn="l"/>
                <a:tab pos="1442085" algn="l"/>
                <a:tab pos="1811020" algn="l"/>
                <a:tab pos="2560955" algn="l"/>
                <a:tab pos="3958590" algn="l"/>
                <a:tab pos="5808980" algn="l"/>
                <a:tab pos="7037705" algn="l"/>
                <a:tab pos="7575550" algn="l"/>
              </a:tabLst>
            </a:pPr>
            <a:r>
              <a:rPr sz="2000" spc="-10" dirty="0">
                <a:latin typeface="Arial MT"/>
                <a:cs typeface="Arial MT"/>
              </a:rPr>
              <a:t>Delayed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failed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increases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risk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life.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BC4B2718-D33C-730D-B93E-001CC159AF2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221B2C2-9633-48C8-E4BC-A34E46BEE1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70909C1-913C-1A43-2841-5CF02E337448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E92151-B0E4-F266-D6AA-DB1E17EB653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B7C0DC-C122-6DAC-A2C4-1E768922B15F}"/>
              </a:ext>
            </a:extLst>
          </p:cNvPr>
          <p:cNvSpPr/>
          <p:nvPr/>
        </p:nvSpPr>
        <p:spPr>
          <a:xfrm>
            <a:off x="228600" y="778345"/>
            <a:ext cx="8686801" cy="5533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9A634AC-4DD6-3B59-6613-98967046D53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25" y="134238"/>
            <a:ext cx="21158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856148"/>
            <a:ext cx="8074659" cy="5309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5"/>
              </a:spcBef>
              <a:tabLst>
                <a:tab pos="439420" algn="l"/>
                <a:tab pos="1403985" algn="l"/>
                <a:tab pos="2522855" algn="l"/>
                <a:tab pos="3540760" algn="l"/>
                <a:tab pos="4094479" algn="l"/>
                <a:tab pos="5411470" algn="l"/>
                <a:tab pos="5752465" algn="l"/>
                <a:tab pos="6716395" algn="l"/>
                <a:tab pos="7834630" algn="l"/>
              </a:tabLst>
            </a:pPr>
            <a:r>
              <a:rPr lang="en-IN" sz="2000" spc="-25" dirty="0">
                <a:latin typeface="Arial MT"/>
                <a:cs typeface="Arial MT"/>
              </a:rPr>
              <a:t>1.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provide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tracking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monitoring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people,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vehicles,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assets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technologies.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2.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detecting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abnormal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situations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alerts.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080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3.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enable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collection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intelligent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decision-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optimization.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>
              <a:lnSpc>
                <a:spcPct val="100000"/>
              </a:lnSpc>
              <a:buSzPct val="95000"/>
              <a:tabLst>
                <a:tab pos="100330" algn="l"/>
              </a:tabLst>
            </a:pPr>
            <a:r>
              <a:rPr lang="en-IN" sz="2000" dirty="0">
                <a:latin typeface="Arial MT"/>
                <a:cs typeface="Arial MT"/>
              </a:rPr>
              <a:t>4.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effort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operational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automation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monitoring.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Arial MT"/>
              <a:cs typeface="Arial MT"/>
            </a:endParaRPr>
          </a:p>
          <a:p>
            <a:pPr marL="3175" marR="5715">
              <a:lnSpc>
                <a:spcPct val="100000"/>
              </a:lnSpc>
              <a:spcBef>
                <a:spcPts val="5"/>
              </a:spcBef>
              <a:buSzPct val="95000"/>
              <a:tabLst>
                <a:tab pos="100330" algn="l"/>
                <a:tab pos="591820" algn="l"/>
                <a:tab pos="1631314" algn="l"/>
                <a:tab pos="2418715" algn="l"/>
                <a:tab pos="3658235" algn="l"/>
                <a:tab pos="4048760" algn="l"/>
                <a:tab pos="5497830" algn="l"/>
                <a:tab pos="6766559" algn="l"/>
                <a:tab pos="7226934" algn="l"/>
              </a:tabLst>
            </a:pPr>
            <a:r>
              <a:rPr lang="en-IN" sz="2000" spc="-25" dirty="0">
                <a:latin typeface="Arial MT"/>
                <a:cs typeface="Arial MT"/>
              </a:rPr>
              <a:t>5.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lang="en-IN"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support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quick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response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emergency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situations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sharing </a:t>
            </a:r>
            <a:r>
              <a:rPr sz="2000" dirty="0">
                <a:latin typeface="Arial MT"/>
                <a:cs typeface="Arial MT"/>
              </a:rPr>
              <a:t>accurate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status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3175" marR="7620">
              <a:lnSpc>
                <a:spcPct val="100000"/>
              </a:lnSpc>
              <a:buSzPct val="95000"/>
              <a:tabLst>
                <a:tab pos="100330" algn="l"/>
                <a:tab pos="615950" algn="l"/>
                <a:tab pos="1736089" algn="l"/>
                <a:tab pos="3435985" algn="l"/>
                <a:tab pos="4077335" algn="l"/>
                <a:tab pos="5057775" algn="l"/>
                <a:tab pos="5473700" algn="l"/>
                <a:tab pos="7034530" algn="l"/>
                <a:tab pos="7788909" algn="l"/>
              </a:tabLst>
            </a:pPr>
            <a:r>
              <a:rPr lang="en-IN" sz="2000" spc="-25" dirty="0">
                <a:latin typeface="Arial MT"/>
                <a:cs typeface="Arial MT"/>
              </a:rPr>
              <a:t>6. </a:t>
            </a: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improve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control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applications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such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as </a:t>
            </a:r>
            <a:r>
              <a:rPr sz="2000" dirty="0">
                <a:latin typeface="Arial MT"/>
                <a:cs typeface="Arial MT"/>
              </a:rPr>
              <a:t>transportation,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healthcare,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tourism,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tracking.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3F42F42F-DE31-B145-3E25-CF9991353473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4200B0E-7E70-24D9-0971-724F0BF782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AF5C6F9-792F-4D13-9182-DB29A712CF83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8A003F2-CD67-631C-FD81-30348733191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107E17-D54C-7E07-C9CD-8E54B28FED4F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F0F56BB-106C-C036-3C31-196E0551418F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333946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8917" y="1005332"/>
            <a:ext cx="5726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4010" algn="l"/>
                <a:tab pos="2208530" algn="l"/>
                <a:tab pos="3193415" algn="l"/>
                <a:tab pos="3667760" algn="l"/>
                <a:tab pos="4836795" algn="l"/>
              </a:tabLst>
            </a:pPr>
            <a:r>
              <a:rPr sz="2000" spc="-5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wireless-based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location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005332"/>
            <a:ext cx="14643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701675" algn="l"/>
              </a:tabLst>
            </a:pPr>
            <a:r>
              <a:rPr sz="2000" spc="-20" dirty="0">
                <a:latin typeface="Arial MT"/>
                <a:cs typeface="Arial MT"/>
              </a:rPr>
              <a:t>1.To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design tracking.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919986"/>
            <a:ext cx="7343140" cy="349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emergency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alert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functionality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critical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situations.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reliable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2"/>
            </a:pP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tourists,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workers,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rescue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teams.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12700" marR="6350" indent="498475">
              <a:lnSpc>
                <a:spcPct val="100000"/>
              </a:lnSpc>
              <a:buAutoNum type="arabicPeriod" startAt="5"/>
              <a:tabLst>
                <a:tab pos="511175" algn="l"/>
                <a:tab pos="1094740" algn="l"/>
                <a:tab pos="1961514" algn="l"/>
                <a:tab pos="2898140" algn="l"/>
                <a:tab pos="4368800" algn="l"/>
                <a:tab pos="4865370" algn="l"/>
                <a:tab pos="5619750" algn="l"/>
              </a:tabLst>
            </a:pPr>
            <a:r>
              <a:rPr sz="2000" spc="-2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allow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future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integration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new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communication technologies.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AutoNum type="arabicPeriod" startAt="5"/>
            </a:pP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91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safety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C53F1230-751E-325A-8E2B-A96BB768E55D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A2D2EA17-D6E2-52EE-687F-1AFBB028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F699781-BBDE-9156-6BFA-196719AD30A2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D9C120B-4045-4B48-539F-257AC2FD0E6D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CF1769-0C60-806F-DED7-82244D5F8B0D}"/>
              </a:ext>
            </a:extLst>
          </p:cNvPr>
          <p:cNvSpPr/>
          <p:nvPr/>
        </p:nvSpPr>
        <p:spPr>
          <a:xfrm>
            <a:off x="685800" y="778345"/>
            <a:ext cx="7772400" cy="5408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532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5"/>
              </a:spcBef>
            </a:pP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Diagram</a:t>
            </a:r>
            <a:r>
              <a:rPr spc="-6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3C6FC61-279C-29C4-0714-25BA62445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0" y="3443948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36DEC-1374-6692-1242-5FDDCD3DF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54748"/>
            <a:ext cx="7467600" cy="508000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DB9B8151-9343-925D-E48A-600C8F46C81B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3BEF4E56-7C15-E5C9-1587-998197B2C27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74D1468-8838-E8B4-8219-898BE2C5E776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A3E320-6902-F1AE-93C2-47AD79882CA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85DD92-4D78-A821-1880-8C67204D7708}"/>
              </a:ext>
            </a:extLst>
          </p:cNvPr>
          <p:cNvSpPr/>
          <p:nvPr/>
        </p:nvSpPr>
        <p:spPr>
          <a:xfrm>
            <a:off x="381000" y="778345"/>
            <a:ext cx="8458200" cy="5590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1E6DEBF-890C-048F-57A1-E626582DA46E}"/>
              </a:ext>
            </a:extLst>
          </p:cNvPr>
          <p:cNvSpPr/>
          <p:nvPr/>
        </p:nvSpPr>
        <p:spPr>
          <a:xfrm>
            <a:off x="0" y="-25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CC79C6-2C45-DD15-74E4-688C1AAAF23F}"/>
              </a:ext>
            </a:extLst>
          </p:cNvPr>
          <p:cNvSpPr/>
          <p:nvPr/>
        </p:nvSpPr>
        <p:spPr>
          <a:xfrm>
            <a:off x="2050700" y="2219621"/>
            <a:ext cx="5042599" cy="396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D342-0BD4-AA63-9A26-54BFDD9A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89204" y="1822571"/>
            <a:ext cx="3565588" cy="4754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A959B-7108-B6ED-C67D-AB6E228667CA}"/>
              </a:ext>
            </a:extLst>
          </p:cNvPr>
          <p:cNvSpPr txBox="1"/>
          <p:nvPr/>
        </p:nvSpPr>
        <p:spPr>
          <a:xfrm>
            <a:off x="2285998" y="10400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 err="1"/>
              <a:t>Workdone</a:t>
            </a:r>
            <a:endParaRPr lang="en-IN" sz="3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9C185-E90B-0651-57C5-E351D5EF8FD0}"/>
              </a:ext>
            </a:extLst>
          </p:cNvPr>
          <p:cNvSpPr txBox="1"/>
          <p:nvPr/>
        </p:nvSpPr>
        <p:spPr>
          <a:xfrm>
            <a:off x="881464" y="848454"/>
            <a:ext cx="7381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Interfaced SIM808 with ESP32 Nano using UART.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Implemented GSM communication for sending and receiving 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Integrated OLED display to show system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Performed testing and debugging of the complete system.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C7BFE5F0-8EFB-5507-7510-737D0B165B3F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AFFFC52B-49E1-98BD-7023-6E50C62C90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095CA4B0-BA83-2EE6-7D9B-5CB9A6BB82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6053B7-6B8C-E0BB-0F1F-EDD1455CB11F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FB22B09-C701-BEAE-1995-F25DA3405D84}"/>
              </a:ext>
            </a:extLst>
          </p:cNvPr>
          <p:cNvSpPr/>
          <p:nvPr/>
        </p:nvSpPr>
        <p:spPr>
          <a:xfrm>
            <a:off x="0" y="-16747"/>
            <a:ext cx="9144000" cy="1012213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15068"/>
              </p:ext>
            </p:extLst>
          </p:nvPr>
        </p:nvGraphicFramePr>
        <p:xfrm>
          <a:off x="298450" y="1365250"/>
          <a:ext cx="845565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9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1.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09880" marR="887094" indent="62230">
                        <a:lnSpc>
                          <a:spcPct val="111800"/>
                        </a:lnSpc>
                        <a:spcBef>
                          <a:spcPts val="26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Women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Safety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System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GPS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GSM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Patel,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Shah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Smart Systems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212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 GPS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emergency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sends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real-time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SMS.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during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situations.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2.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70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lang="en-IN"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 System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Sharma,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Verma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16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Engineering Research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Technology (IJERT)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IoT-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based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message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using GSM.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3.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GSM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Kumar,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Singh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8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2020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Advanced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Electronics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Communication Engineering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(IJARECE)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43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Implemented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system 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improve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monitoring.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BCE47CB-E81E-4616-3200-85516A6117F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5F964E2-6508-6B78-B16E-21175CA93B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330B0E2-FA31-E9B1-437C-303D22143E6E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A75C6C-5B3E-A209-9F65-C8402096ACC4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49A140B9-E2DC-87E2-3960-7E81611C8DC2}"/>
              </a:ext>
            </a:extLst>
          </p:cNvPr>
          <p:cNvSpPr/>
          <p:nvPr/>
        </p:nvSpPr>
        <p:spPr>
          <a:xfrm>
            <a:off x="0" y="-26"/>
            <a:ext cx="9144000" cy="963267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87" rIns="0" bIns="0" rtlCol="0">
            <a:spAutoFit/>
          </a:bodyPr>
          <a:lstStyle/>
          <a:p>
            <a:pPr marL="28981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spc="-10" dirty="0"/>
              <a:t>Survey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81900"/>
              </p:ext>
            </p:extLst>
          </p:nvPr>
        </p:nvGraphicFramePr>
        <p:xfrm>
          <a:off x="298450" y="1365250"/>
          <a:ext cx="8455657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0805" marR="321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 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4.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01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K.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Mehta,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Joshi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938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2023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Conference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Wireless Communication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524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low-power long-range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remote areas.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5.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73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Safety 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Desai,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Kulkarni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Scientific Research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Engineering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(IJSRET)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11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IoT,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GSM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children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real-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alerts.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6.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Wearable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Alert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Khan,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S.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Ali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81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2024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Smart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55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wearable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instant emergency notifications.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DF4EDEA4-B70C-93B7-482C-7F5470867A0A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3D7C807-9B1D-7C34-EC48-0B03EC83EA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DB31944-99B7-2ED1-0AAE-EBD77D5590BF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2B1B9B-9239-6808-D6EE-94C540F3C80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B68947-EA0B-3C91-267E-F9387C24D1EE}"/>
              </a:ext>
            </a:extLst>
          </p:cNvPr>
          <p:cNvSpPr/>
          <p:nvPr/>
        </p:nvSpPr>
        <p:spPr>
          <a:xfrm>
            <a:off x="76199" y="573852"/>
            <a:ext cx="8991601" cy="5845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4997320-C85B-8172-F55A-170A87E331CB}"/>
              </a:ext>
            </a:extLst>
          </p:cNvPr>
          <p:cNvSpPr/>
          <p:nvPr/>
        </p:nvSpPr>
        <p:spPr>
          <a:xfrm>
            <a:off x="0" y="-25"/>
            <a:ext cx="9144000" cy="597381"/>
          </a:xfrm>
          <a:custGeom>
            <a:avLst/>
            <a:gdLst/>
            <a:ahLst/>
            <a:cxnLst/>
            <a:rect l="l" t="t" r="r" b="b"/>
            <a:pathLst>
              <a:path w="9144000" h="646430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0"/>
                </a:lnTo>
                <a:close/>
              </a:path>
            </a:pathLst>
          </a:custGeom>
          <a:solidFill>
            <a:srgbClr val="92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787" y="52598"/>
            <a:ext cx="232283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597357"/>
            <a:ext cx="7761605" cy="60458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 indent="-214629">
              <a:lnSpc>
                <a:spcPct val="100000"/>
              </a:lnSpc>
              <a:spcBef>
                <a:spcPts val="105"/>
              </a:spcBef>
              <a:buSzPct val="95000"/>
              <a:buAutoNum type="arabicPeriod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System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Initialization</a:t>
            </a:r>
            <a:endParaRPr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When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device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powered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ON,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59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initializes</a:t>
            </a:r>
            <a:r>
              <a:rPr sz="1200" spc="47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all </a:t>
            </a:r>
            <a:r>
              <a:rPr sz="1200" dirty="0">
                <a:latin typeface="Arial MT"/>
                <a:cs typeface="Arial MT"/>
              </a:rPr>
              <a:t>connected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modules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GPS,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GSM/LoRa,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push</a:t>
            </a:r>
            <a:r>
              <a:rPr sz="1200" spc="11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button,</a:t>
            </a:r>
            <a:r>
              <a:rPr sz="1200" spc="1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buzzer,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LED.</a:t>
            </a:r>
            <a:endParaRPr lang="en-IN" sz="1200" spc="-2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2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Location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Acquisition</a:t>
            </a: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module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continuously</a:t>
            </a:r>
            <a:r>
              <a:rPr sz="1200" spc="254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receives</a:t>
            </a:r>
            <a:r>
              <a:rPr sz="1200" spc="2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signals</a:t>
            </a:r>
            <a:r>
              <a:rPr sz="1200" spc="2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2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satellites</a:t>
            </a:r>
            <a:r>
              <a:rPr sz="1200" spc="26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calculates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current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latitude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longitude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3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Data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Processing</a:t>
            </a:r>
            <a:endParaRPr sz="1200" dirty="0">
              <a:latin typeface="Arial"/>
              <a:cs typeface="Arial"/>
            </a:endParaRPr>
          </a:p>
          <a:p>
            <a:pPr marL="10800" lvl="1" algn="just"/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Raspberry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reads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GPS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through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serial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communication</a:t>
            </a: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processes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readable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format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suitable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monitoring.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Arial MT"/>
              <a:cs typeface="Arial MT"/>
            </a:endParaRPr>
          </a:p>
          <a:p>
            <a:pPr marL="224154" indent="-214629">
              <a:lnSpc>
                <a:spcPct val="100000"/>
              </a:lnSpc>
              <a:buSzPct val="95000"/>
              <a:buAutoNum type="arabicPeriod" startAt="4"/>
              <a:tabLst>
                <a:tab pos="224154" algn="l"/>
              </a:tabLst>
            </a:pPr>
            <a:r>
              <a:rPr sz="1200" b="1" dirty="0">
                <a:latin typeface="Arial"/>
                <a:cs typeface="Arial"/>
              </a:rPr>
              <a:t>Normal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Monitoring</a:t>
            </a:r>
            <a:r>
              <a:rPr sz="1200" b="1" spc="-20" dirty="0">
                <a:latin typeface="Arial"/>
                <a:cs typeface="Arial"/>
              </a:rPr>
              <a:t> Mode</a:t>
            </a:r>
            <a:endParaRPr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In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normal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condition,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3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sends</a:t>
            </a:r>
            <a:r>
              <a:rPr sz="1200" spc="4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location</a:t>
            </a:r>
            <a:r>
              <a:rPr sz="1200" spc="40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data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35" dirty="0">
                <a:latin typeface="Arial MT"/>
                <a:cs typeface="Arial MT"/>
              </a:rPr>
              <a:t>  </a:t>
            </a:r>
            <a:r>
              <a:rPr sz="1200" spc="-25" dirty="0">
                <a:latin typeface="Arial MT"/>
                <a:cs typeface="Arial MT"/>
              </a:rPr>
              <a:t>the </a:t>
            </a:r>
            <a:r>
              <a:rPr sz="1200" dirty="0">
                <a:latin typeface="Arial MT"/>
                <a:cs typeface="Arial MT"/>
              </a:rPr>
              <a:t>authorized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person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fixed</a:t>
            </a:r>
            <a:r>
              <a:rPr sz="1200" spc="3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intervals</a:t>
            </a:r>
            <a:r>
              <a:rPr sz="1200" spc="3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3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3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GSM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</a:t>
            </a:r>
            <a:r>
              <a:rPr sz="1200" spc="37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LoRa </a:t>
            </a:r>
            <a:r>
              <a:rPr sz="1200" dirty="0">
                <a:latin typeface="Arial MT"/>
                <a:cs typeface="Arial MT"/>
              </a:rPr>
              <a:t>communication</a:t>
            </a:r>
            <a:r>
              <a:rPr sz="1200" spc="-1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module.</a:t>
            </a:r>
            <a:endParaRPr lang="en-IN" sz="1200" spc="-1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lang="en-IN" sz="1200" spc="-1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AutoNum type="arabicPeriod" startAt="5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Emergency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Detection</a:t>
            </a:r>
            <a:r>
              <a:rPr lang="en-US" sz="1200" b="1" spc="-3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(SOS</a:t>
            </a:r>
            <a:r>
              <a:rPr lang="en-US" sz="1200" b="1" spc="-40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Mode)</a:t>
            </a:r>
            <a:endParaRPr lang="en-US" sz="1200" dirty="0">
              <a:latin typeface="Arial"/>
              <a:cs typeface="Arial"/>
            </a:endParaRPr>
          </a:p>
          <a:p>
            <a:pPr marL="12700" marR="762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When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SOS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push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button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1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pressed,</a:t>
            </a:r>
            <a:r>
              <a:rPr lang="en-US" sz="1200" spc="1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1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immediately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switches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triggers</a:t>
            </a:r>
            <a:r>
              <a:rPr lang="en-US" sz="1200" spc="-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buzzer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 </a:t>
            </a:r>
            <a:r>
              <a:rPr lang="en-US" sz="1200" spc="-10" dirty="0">
                <a:latin typeface="Arial MT"/>
                <a:cs typeface="Arial MT"/>
              </a:rPr>
              <a:t>indicators.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6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Alert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Transmission</a:t>
            </a:r>
            <a:endParaRPr lang="en-US" sz="12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emergency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mode,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sends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</a:t>
            </a:r>
            <a:r>
              <a:rPr lang="en-US" sz="1200" spc="2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alert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message</a:t>
            </a:r>
            <a:r>
              <a:rPr lang="en-US" sz="1200" spc="204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along</a:t>
            </a:r>
            <a:r>
              <a:rPr lang="en-US" sz="1200" spc="2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with</a:t>
            </a:r>
            <a:r>
              <a:rPr lang="en-US" sz="1200" spc="19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the </a:t>
            </a:r>
            <a:r>
              <a:rPr lang="en-US" sz="1200" dirty="0">
                <a:latin typeface="Arial MT"/>
                <a:cs typeface="Arial MT"/>
              </a:rPr>
              <a:t>live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link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10" dirty="0">
                <a:latin typeface="Arial MT"/>
                <a:cs typeface="Arial MT"/>
              </a:rPr>
              <a:t>pre-</a:t>
            </a:r>
            <a:r>
              <a:rPr lang="en-US" sz="1200" dirty="0">
                <a:latin typeface="Arial MT"/>
                <a:cs typeface="Arial MT"/>
              </a:rPr>
              <a:t>stored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contact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numbers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via</a:t>
            </a:r>
            <a:r>
              <a:rPr lang="en-US" sz="1200" spc="17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SMS</a:t>
            </a:r>
            <a:r>
              <a:rPr lang="en-US" sz="1200" spc="185" dirty="0">
                <a:latin typeface="Arial MT"/>
                <a:cs typeface="Arial MT"/>
              </a:rPr>
              <a:t> 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80" dirty="0">
                <a:latin typeface="Arial MT"/>
                <a:cs typeface="Arial MT"/>
              </a:rPr>
              <a:t>  </a:t>
            </a:r>
            <a:r>
              <a:rPr lang="en-US" sz="1200" spc="-20" dirty="0">
                <a:latin typeface="Arial MT"/>
                <a:cs typeface="Arial MT"/>
              </a:rPr>
              <a:t>data </a:t>
            </a:r>
            <a:r>
              <a:rPr lang="en-US" sz="1200" spc="-10" dirty="0">
                <a:latin typeface="Arial MT"/>
                <a:cs typeface="Arial MT"/>
              </a:rPr>
              <a:t>communication.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7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Monitoring</a:t>
            </a:r>
            <a:r>
              <a:rPr lang="en-US" sz="1200" b="1" spc="-6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and</a:t>
            </a:r>
            <a:r>
              <a:rPr lang="en-US" sz="1200" b="1" spc="-45" dirty="0">
                <a:latin typeface="Arial"/>
                <a:cs typeface="Arial"/>
              </a:rPr>
              <a:t> </a:t>
            </a:r>
            <a:r>
              <a:rPr lang="en-US" sz="1200" b="1" spc="-10" dirty="0">
                <a:latin typeface="Arial"/>
                <a:cs typeface="Arial"/>
              </a:rPr>
              <a:t>Tracking</a:t>
            </a:r>
            <a:endParaRPr lang="en-US"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receiver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monitors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user’s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location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mobile</a:t>
            </a:r>
            <a:r>
              <a:rPr lang="en-US" sz="1200" spc="9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phone</a:t>
            </a:r>
            <a:r>
              <a:rPr lang="en-US" sz="1200" spc="1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or</a:t>
            </a:r>
            <a:r>
              <a:rPr lang="en-US" sz="1200" spc="10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computer</a:t>
            </a:r>
            <a:endParaRPr lang="en-US"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US" sz="1200" dirty="0">
                <a:latin typeface="Arial MT"/>
                <a:cs typeface="Arial MT"/>
              </a:rPr>
              <a:t>using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received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Google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Maps</a:t>
            </a:r>
            <a:r>
              <a:rPr lang="en-US" sz="1200" spc="-10" dirty="0">
                <a:latin typeface="Arial MT"/>
                <a:cs typeface="Arial MT"/>
              </a:rPr>
              <a:t> link.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 startAt="8"/>
              <a:tabLst>
                <a:tab pos="202565" algn="l"/>
              </a:tabLst>
            </a:pPr>
            <a:r>
              <a:rPr lang="en-US" sz="1200" b="1" dirty="0">
                <a:latin typeface="Arial"/>
                <a:cs typeface="Arial"/>
              </a:rPr>
              <a:t>Power</a:t>
            </a:r>
            <a:r>
              <a:rPr lang="en-US" sz="1200" b="1" spc="-10" dirty="0">
                <a:latin typeface="Arial"/>
                <a:cs typeface="Arial"/>
              </a:rPr>
              <a:t> Management</a:t>
            </a:r>
            <a:endParaRPr lang="en-US" sz="12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system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operates</a:t>
            </a:r>
            <a:r>
              <a:rPr lang="en-US" sz="1200" spc="19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rechargeable</a:t>
            </a:r>
            <a:r>
              <a:rPr lang="en-US" sz="1200" spc="1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battery,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18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voltage</a:t>
            </a:r>
            <a:r>
              <a:rPr lang="en-US" sz="1200" spc="17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regulator </a:t>
            </a:r>
            <a:r>
              <a:rPr lang="en-US" sz="1200" dirty="0">
                <a:latin typeface="Arial MT"/>
                <a:cs typeface="Arial MT"/>
              </a:rPr>
              <a:t>ensures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stable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power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supply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4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all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components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for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continuous</a:t>
            </a:r>
            <a:r>
              <a:rPr lang="en-US" sz="1200" spc="-10" dirty="0">
                <a:latin typeface="Arial MT"/>
                <a:cs typeface="Arial MT"/>
              </a:rPr>
              <a:t> operation.</a:t>
            </a:r>
            <a:endParaRPr lang="en-US" sz="1200" dirty="0">
              <a:latin typeface="Arial MT"/>
              <a:cs typeface="Arial MT"/>
            </a:endParaRPr>
          </a:p>
          <a:p>
            <a:pPr marL="12700" marR="6985" algn="just">
              <a:lnSpc>
                <a:spcPct val="100000"/>
              </a:lnSpc>
            </a:pPr>
            <a:endParaRPr sz="1500" dirty="0">
              <a:latin typeface="Arial MT"/>
              <a:cs typeface="Arial MT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AE998E96-1924-3B2B-774E-B99835B2535E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66EB9FE-990C-80EA-D49F-7879D326E4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1A969CB-AE46-098B-1905-9C14CF3DF189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BF0C431-C45B-DAE4-3832-0D6991CD9810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1" y="-47470"/>
            <a:ext cx="8941803" cy="717091"/>
          </a:xfrm>
          <a:prstGeom prst="rect">
            <a:avLst/>
          </a:prstGeom>
        </p:spPr>
        <p:txBody>
          <a:bodyPr vert="horz" wrap="square" lIns="0" tIns="268196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50" dirty="0"/>
              <a:t> </a:t>
            </a:r>
            <a:r>
              <a:rPr dirty="0"/>
              <a:t>Techniques</a:t>
            </a:r>
            <a:r>
              <a:rPr lang="en-IN" dirty="0"/>
              <a:t> &amp;</a:t>
            </a:r>
            <a:r>
              <a:rPr spc="-40" dirty="0"/>
              <a:t> </a:t>
            </a:r>
            <a:r>
              <a:rPr dirty="0"/>
              <a:t>Resources</a:t>
            </a:r>
            <a:r>
              <a:rPr spc="-45" dirty="0"/>
              <a:t> </a:t>
            </a:r>
            <a:r>
              <a:rPr spc="-20" dirty="0"/>
              <a:t>Used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54932"/>
              </p:ext>
            </p:extLst>
          </p:nvPr>
        </p:nvGraphicFramePr>
        <p:xfrm>
          <a:off x="533400" y="984250"/>
          <a:ext cx="8222615" cy="511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8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Components: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Part: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9944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Components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Microcontroller: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ESP32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MKR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STM32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6M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NEO-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M8N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Module: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LoRa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SX1278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Button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Battery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(Li-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ion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Po)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circuit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Optional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Advanced)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Heart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sensor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(MAX30100)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sensor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(accelerometer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MPU6050)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Buzzer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indicator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Firmware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Arduino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ESP-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IDF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GPS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Wireless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packet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transmission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Dashboard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Firebase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ThingsBoard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IoT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alert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panel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history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App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location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notifications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Rescue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3">
            <a:extLst>
              <a:ext uri="{FF2B5EF4-FFF2-40B4-BE49-F238E27FC236}">
                <a16:creationId xmlns:a16="http://schemas.microsoft.com/office/drawing/2014/main" id="{B309675F-2B14-5C12-D05C-2ABA2D5FEF6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C881DDD-76D5-1544-2460-4A9C6741B5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5B75A81-92B8-D84A-9DB2-7F0ED469ADF5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F57BFA-6367-48FD-ADC7-8729E2578BE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9142"/>
            <a:ext cx="9063018" cy="635990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1F4677B1-0EDC-9A36-A0BA-371A55C66942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19E96B-3AC3-829F-978B-3BD351E9D0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195BE5-1A63-5B4B-629D-D849E26654D0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04A297D-A6F7-5E26-472E-C681B462D066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A6C1DE-FB30-CA05-9C04-FE3A68AFDF88}"/>
              </a:ext>
            </a:extLst>
          </p:cNvPr>
          <p:cNvSpPr/>
          <p:nvPr/>
        </p:nvSpPr>
        <p:spPr>
          <a:xfrm>
            <a:off x="-1" y="646405"/>
            <a:ext cx="9139239" cy="5830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-4761" y="-4761"/>
            <a:ext cx="9153525" cy="655955"/>
            <a:chOff x="-4761" y="-4761"/>
            <a:chExt cx="9153525" cy="655955"/>
          </a:xfrm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8BB3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609600"/>
                  </a:moveTo>
                  <a:lnTo>
                    <a:pt x="8229600" y="6096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12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99" y="711091"/>
            <a:ext cx="8941803" cy="5899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l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IN" sz="1100" dirty="0">
                <a:latin typeface="Arial MT"/>
                <a:cs typeface="Arial MT"/>
              </a:rPr>
              <a:t>1. </a:t>
            </a:r>
            <a:r>
              <a:rPr sz="1100" dirty="0">
                <a:latin typeface="Arial MT"/>
                <a:cs typeface="Arial MT"/>
              </a:rPr>
              <a:t>H.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Jehangiri,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Ahmad,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Ala’anzy,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Imhemed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Alramli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A. </a:t>
            </a:r>
            <a:r>
              <a:rPr sz="1100" dirty="0">
                <a:latin typeface="Arial MT"/>
                <a:cs typeface="Arial MT"/>
              </a:rPr>
              <a:t>Algarni,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“Design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evaluation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low-</a:t>
            </a:r>
            <a:r>
              <a:rPr sz="1100" dirty="0">
                <a:latin typeface="Arial MT"/>
                <a:cs typeface="Arial MT"/>
              </a:rPr>
              <a:t>power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wide-</a:t>
            </a:r>
            <a:r>
              <a:rPr sz="1100" dirty="0">
                <a:latin typeface="Arial MT"/>
                <a:cs typeface="Arial MT"/>
              </a:rPr>
              <a:t>area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(LPWAN)-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response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individuals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special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smart </a:t>
            </a:r>
            <a:r>
              <a:rPr sz="1100" dirty="0">
                <a:latin typeface="Arial MT"/>
                <a:cs typeface="Arial MT"/>
              </a:rPr>
              <a:t>buildings,” Sensors,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24,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11,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3433,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l">
              <a:lnSpc>
                <a:spcPct val="100000"/>
              </a:lnSpc>
              <a:tabLst>
                <a:tab pos="270510" algn="l"/>
              </a:tabLst>
            </a:pPr>
            <a:r>
              <a:rPr lang="en-IN" sz="1100" dirty="0">
                <a:latin typeface="Arial MT"/>
                <a:cs typeface="Arial MT"/>
              </a:rPr>
              <a:t>2.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Pérez,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Parada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C.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Monzó,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“Global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WPAN </a:t>
            </a:r>
            <a:r>
              <a:rPr lang="en-IN" sz="1100" spc="-20" dirty="0">
                <a:latin typeface="Arial MT"/>
                <a:cs typeface="Arial MT"/>
              </a:rPr>
              <a:t>    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LPWAN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hybrid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networks,”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lang="en-IN"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Sensors,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22,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7921,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Oct.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2022. </a:t>
            </a:r>
            <a:r>
              <a:rPr lang="en-IN" sz="1100" spc="-10" dirty="0">
                <a:latin typeface="Arial MT"/>
                <a:cs typeface="Arial MT"/>
              </a:rPr>
              <a:t>   </a:t>
            </a:r>
            <a:r>
              <a:rPr sz="1100" spc="-20" dirty="0">
                <a:latin typeface="Arial MT"/>
                <a:cs typeface="Arial MT"/>
              </a:rPr>
              <a:t>MDPI</a:t>
            </a:r>
            <a:endParaRPr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322580" algn="l"/>
              </a:tabLst>
            </a:pPr>
            <a:r>
              <a:rPr lang="en-US" sz="1100" dirty="0">
                <a:latin typeface="Arial MT"/>
                <a:cs typeface="Arial MT"/>
              </a:rPr>
              <a:t>A.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Ari</a:t>
            </a:r>
            <a:r>
              <a:rPr lang="en-US" sz="1100" spc="4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Andrianto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“Implementation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3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Internet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Things</a:t>
            </a:r>
            <a:r>
              <a:rPr lang="en-US" sz="1100" spc="409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(IoT)</a:t>
            </a:r>
            <a:r>
              <a:rPr lang="en-US" sz="1100" spc="42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in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tracking</a:t>
            </a:r>
            <a:r>
              <a:rPr lang="en-US" sz="1100" spc="42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the </a:t>
            </a:r>
            <a:r>
              <a:rPr lang="en-US" sz="1100" dirty="0">
                <a:latin typeface="Arial MT"/>
                <a:cs typeface="Arial MT"/>
              </a:rPr>
              <a:t>position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of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search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and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rescue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teams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using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LoRa,”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SMATIKA</a:t>
            </a:r>
            <a:r>
              <a:rPr lang="en-US" sz="1100" spc="-15" dirty="0">
                <a:latin typeface="Arial MT"/>
                <a:cs typeface="Arial MT"/>
              </a:rPr>
              <a:t> </a:t>
            </a:r>
            <a:r>
              <a:rPr lang="en-US" sz="1100" dirty="0" err="1">
                <a:latin typeface="Arial MT"/>
                <a:cs typeface="Arial MT"/>
              </a:rPr>
              <a:t>Jurnal</a:t>
            </a:r>
            <a:r>
              <a:rPr lang="en-US" sz="1100" dirty="0">
                <a:latin typeface="Arial MT"/>
                <a:cs typeface="Arial MT"/>
              </a:rPr>
              <a:t>,</a:t>
            </a:r>
            <a:r>
              <a:rPr lang="en-US" sz="1100" spc="-5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vol.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14,</a:t>
            </a:r>
            <a:r>
              <a:rPr lang="en-US" sz="1100" spc="10" dirty="0">
                <a:latin typeface="Arial MT"/>
                <a:cs typeface="Arial MT"/>
              </a:rPr>
              <a:t> </a:t>
            </a:r>
            <a:r>
              <a:rPr lang="en-US" sz="1100" dirty="0">
                <a:latin typeface="Arial MT"/>
                <a:cs typeface="Arial MT"/>
              </a:rPr>
              <a:t>no.</a:t>
            </a:r>
            <a:r>
              <a:rPr lang="en-US" sz="1100" spc="-10" dirty="0">
                <a:latin typeface="Arial MT"/>
                <a:cs typeface="Arial MT"/>
              </a:rPr>
              <a:t> </a:t>
            </a:r>
            <a:r>
              <a:rPr lang="en-US" sz="1100" spc="-25" dirty="0">
                <a:latin typeface="Arial MT"/>
                <a:cs typeface="Arial MT"/>
              </a:rPr>
              <a:t>01, </a:t>
            </a:r>
            <a:r>
              <a:rPr lang="en-US" sz="1100" dirty="0">
                <a:latin typeface="Arial MT"/>
                <a:cs typeface="Arial MT"/>
              </a:rPr>
              <a:t>2025.</a:t>
            </a:r>
            <a:r>
              <a:rPr lang="en-US" sz="1100" spc="-25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jurnal.ubhinus.ac.id</a:t>
            </a:r>
            <a:endParaRPr lang="en-US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/>
            </a:pPr>
            <a:endParaRPr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269240" algn="l"/>
              </a:tabLst>
            </a:pPr>
            <a:r>
              <a:rPr lang="en-IN" sz="1100" dirty="0">
                <a:latin typeface="Arial MT"/>
                <a:cs typeface="Arial MT"/>
              </a:rPr>
              <a:t>3. </a:t>
            </a:r>
            <a:r>
              <a:rPr sz="1100" dirty="0">
                <a:latin typeface="Arial MT"/>
                <a:cs typeface="Arial MT"/>
              </a:rPr>
              <a:t>Md. R.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Enam,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S.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Ghosh and M.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Sarker,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“Child drowning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prevention: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GPS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alert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system,”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Indones.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Sci.,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4,</a:t>
            </a:r>
            <a:endParaRPr sz="11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pp.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1–11,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2023.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IJCS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IN" sz="1100" spc="195" dirty="0">
                <a:latin typeface="Arial MT"/>
                <a:cs typeface="Arial MT"/>
              </a:rPr>
              <a:t>4.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Zulkifli,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Halimsurya,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Ayyasy,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Luthfi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Alinursafa,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“IoT-</a:t>
            </a:r>
            <a:r>
              <a:rPr sz="1100" spc="-10" dirty="0">
                <a:latin typeface="Arial MT"/>
                <a:cs typeface="Arial MT"/>
              </a:rPr>
              <a:t>based </a:t>
            </a:r>
            <a:r>
              <a:rPr sz="1100" dirty="0">
                <a:latin typeface="Arial MT"/>
                <a:cs typeface="Arial MT"/>
              </a:rPr>
              <a:t>vehicle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monitoring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LoRa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network:</a:t>
            </a:r>
            <a:r>
              <a:rPr sz="1100" spc="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addressing</a:t>
            </a:r>
            <a:r>
              <a:rPr sz="1100" spc="3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community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needs</a:t>
            </a:r>
            <a:r>
              <a:rPr sz="1100" spc="25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Indonesia,”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Int.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J.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Electrical,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Biomedical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pp. </a:t>
            </a:r>
            <a:r>
              <a:rPr sz="1100" dirty="0">
                <a:latin typeface="Arial MT"/>
                <a:cs typeface="Arial MT"/>
              </a:rPr>
              <a:t>179–193,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Jun.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IJECBE7.</a:t>
            </a:r>
            <a:endParaRPr lang="en-IN" sz="1100" spc="-1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5. Y.</a:t>
            </a:r>
            <a:r>
              <a:rPr lang="en-IN" sz="1100" spc="1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Chavan,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Shelar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Bharambe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“Integrating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GNSS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advanced </a:t>
            </a:r>
            <a:r>
              <a:rPr lang="en-IN" sz="1100" dirty="0">
                <a:latin typeface="Arial MT"/>
                <a:cs typeface="Arial MT"/>
              </a:rPr>
              <a:t>accident</a:t>
            </a:r>
            <a:r>
              <a:rPr lang="en-IN" sz="1100" spc="1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road</a:t>
            </a:r>
            <a:r>
              <a:rPr lang="en-IN" sz="1100" spc="1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1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enhancement,”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</a:t>
            </a:r>
            <a:r>
              <a:rPr lang="en-IN" sz="1100" spc="1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Reviews: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18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Space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Science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&amp;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Technology,</a:t>
            </a:r>
            <a:r>
              <a:rPr lang="en-IN" sz="1100" spc="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14,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2025.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STM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Journals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6. A.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Mahendranath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Pathak,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Patil</a:t>
            </a:r>
            <a:r>
              <a:rPr lang="en-IN" sz="1100" spc="1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V.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Pujari,</a:t>
            </a:r>
            <a:r>
              <a:rPr lang="en-IN" sz="1100" spc="1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“Smart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shield: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20" dirty="0">
                <a:latin typeface="Arial MT"/>
                <a:cs typeface="Arial MT"/>
              </a:rPr>
              <a:t>IoT- 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2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fall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detection,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GPS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tracking,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health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monitoring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using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ESP8266,” </a:t>
            </a:r>
            <a:r>
              <a:rPr lang="en-IN" sz="1100" dirty="0">
                <a:latin typeface="Arial MT"/>
                <a:cs typeface="Arial MT"/>
              </a:rPr>
              <a:t>International</a:t>
            </a:r>
            <a:r>
              <a:rPr lang="en-IN" sz="1100" spc="39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Journal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Advance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Research,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Ideas</a:t>
            </a:r>
            <a:r>
              <a:rPr lang="en-IN" sz="1100" spc="40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Innovations</a:t>
            </a:r>
            <a:r>
              <a:rPr lang="en-IN" sz="1100" spc="40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0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Technology </a:t>
            </a:r>
            <a:r>
              <a:rPr lang="en-IN" sz="1100" dirty="0">
                <a:latin typeface="Arial MT"/>
                <a:cs typeface="Arial MT"/>
              </a:rPr>
              <a:t>(IJARIIT),</a:t>
            </a:r>
            <a:r>
              <a:rPr lang="en-IN" sz="1100" spc="-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vol.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10,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no.</a:t>
            </a:r>
            <a:r>
              <a:rPr lang="en-IN" sz="1100" spc="-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6,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2024.</a:t>
            </a:r>
            <a:r>
              <a:rPr lang="en-IN" sz="1100" spc="-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IJARIIi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tabLst>
                <a:tab pos="282575" algn="l"/>
              </a:tabLst>
            </a:pPr>
            <a:r>
              <a:rPr lang="en-IN" sz="1100" dirty="0">
                <a:latin typeface="Arial MT"/>
                <a:cs typeface="Arial MT"/>
              </a:rPr>
              <a:t>7. S.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Cheong,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Si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L.-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U,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“Saving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lives: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design</a:t>
            </a:r>
            <a:r>
              <a:rPr lang="en-IN" sz="1100" spc="11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1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implementation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114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lifeline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hoc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network,”</a:t>
            </a:r>
            <a:r>
              <a:rPr lang="en-IN" sz="1100" spc="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2022.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325755" algn="l"/>
              </a:tabLst>
            </a:pPr>
            <a:r>
              <a:rPr lang="en-IN" sz="1100" dirty="0">
                <a:latin typeface="Arial MT"/>
                <a:cs typeface="Arial MT"/>
              </a:rPr>
              <a:t>8. A.</a:t>
            </a:r>
            <a:r>
              <a:rPr lang="en-IN" sz="1100" spc="43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Adeel,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Gogate,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Farooq,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Ieracitano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K.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Dashtipour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H.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Larijani,</a:t>
            </a:r>
            <a:r>
              <a:rPr lang="en-IN" sz="1100" spc="44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A. </a:t>
            </a:r>
            <a:r>
              <a:rPr lang="en-IN" sz="1100" dirty="0">
                <a:latin typeface="Arial MT"/>
                <a:cs typeface="Arial MT"/>
              </a:rPr>
              <a:t>Hussain,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“A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on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the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role</a:t>
            </a:r>
            <a:r>
              <a:rPr lang="en-IN" sz="1100" spc="45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of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wireless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sensor</a:t>
            </a:r>
            <a:r>
              <a:rPr lang="en-IN" sz="1100" spc="4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networks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45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disaster </a:t>
            </a:r>
            <a:r>
              <a:rPr lang="en-IN" sz="1100" dirty="0">
                <a:latin typeface="Arial MT"/>
                <a:cs typeface="Arial MT"/>
              </a:rPr>
              <a:t>management,”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2019.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7620" algn="just">
              <a:lnSpc>
                <a:spcPct val="100000"/>
              </a:lnSpc>
              <a:tabLst>
                <a:tab pos="452755" algn="l"/>
              </a:tabLst>
            </a:pPr>
            <a:r>
              <a:rPr lang="en-IN" sz="1100" dirty="0">
                <a:latin typeface="Arial MT"/>
                <a:cs typeface="Arial MT"/>
              </a:rPr>
              <a:t>9. Y.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Li,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Y.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Zhuang,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X.</a:t>
            </a:r>
            <a:r>
              <a:rPr lang="en-IN" sz="1100" spc="484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Hu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al.,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“Location-</a:t>
            </a:r>
            <a:r>
              <a:rPr lang="en-IN" sz="1100" dirty="0">
                <a:latin typeface="Arial MT"/>
                <a:cs typeface="Arial MT"/>
              </a:rPr>
              <a:t>Enabled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IoT</a:t>
            </a:r>
            <a:r>
              <a:rPr lang="en-IN" sz="1100" spc="480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(LE-</a:t>
            </a:r>
            <a:r>
              <a:rPr lang="en-IN" sz="1100" dirty="0">
                <a:latin typeface="Arial MT"/>
                <a:cs typeface="Arial MT"/>
              </a:rPr>
              <a:t>IoT):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</a:t>
            </a:r>
            <a:r>
              <a:rPr lang="en-IN" sz="1100" spc="4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survey</a:t>
            </a:r>
            <a:r>
              <a:rPr lang="en-IN" sz="1100" spc="46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of </a:t>
            </a:r>
            <a:r>
              <a:rPr lang="en-IN" sz="1100" dirty="0">
                <a:latin typeface="Arial MT"/>
                <a:cs typeface="Arial MT"/>
              </a:rPr>
              <a:t>positioning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techniques,</a:t>
            </a:r>
            <a:r>
              <a:rPr lang="en-IN" sz="1100" spc="-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error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sources,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-3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mitigation,”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arXiv</a:t>
            </a:r>
            <a:r>
              <a:rPr lang="en-IN" sz="1100" spc="-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preprint,</a:t>
            </a:r>
            <a:r>
              <a:rPr lang="en-IN" sz="1100" spc="-2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2020.</a:t>
            </a:r>
            <a:r>
              <a:rPr lang="en-IN" sz="1100" spc="-25" dirty="0">
                <a:latin typeface="Arial MT"/>
                <a:cs typeface="Arial MT"/>
              </a:rPr>
              <a:t> </a:t>
            </a:r>
            <a:r>
              <a:rPr lang="en-IN" sz="1100" spc="-10" dirty="0" err="1">
                <a:latin typeface="Arial MT"/>
                <a:cs typeface="Arial MT"/>
              </a:rPr>
              <a:t>arXiv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AutoNum type="arabicPeriod" startAt="6"/>
            </a:pPr>
            <a:endParaRPr lang="en-IN" sz="1100" dirty="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tabLst>
                <a:tab pos="440690" algn="l"/>
              </a:tabLst>
            </a:pPr>
            <a:r>
              <a:rPr lang="en-IN" sz="1100" dirty="0">
                <a:latin typeface="Arial MT"/>
                <a:cs typeface="Arial MT"/>
              </a:rPr>
              <a:t>10. S.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Sharma,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R.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Raghuwanshi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T.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Chandak</a:t>
            </a:r>
            <a:r>
              <a:rPr lang="en-IN" sz="1100" spc="36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37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D.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dirty="0" err="1">
                <a:latin typeface="Arial MT"/>
                <a:cs typeface="Arial MT"/>
              </a:rPr>
              <a:t>Ramdasi</a:t>
            </a:r>
            <a:r>
              <a:rPr lang="en-IN" sz="1100" dirty="0">
                <a:latin typeface="Arial MT"/>
                <a:cs typeface="Arial MT"/>
              </a:rPr>
              <a:t>,</a:t>
            </a:r>
            <a:r>
              <a:rPr lang="en-IN" sz="1100" spc="375" dirty="0">
                <a:latin typeface="Arial MT"/>
                <a:cs typeface="Arial MT"/>
              </a:rPr>
              <a:t> </a:t>
            </a:r>
            <a:r>
              <a:rPr lang="en-IN" sz="1100" spc="-10" dirty="0">
                <a:latin typeface="Arial MT"/>
                <a:cs typeface="Arial MT"/>
              </a:rPr>
              <a:t>“LoRa-</a:t>
            </a:r>
            <a:r>
              <a:rPr lang="en-IN" sz="1100" dirty="0">
                <a:latin typeface="Arial MT"/>
                <a:cs typeface="Arial MT"/>
              </a:rPr>
              <a:t>based</a:t>
            </a:r>
            <a:r>
              <a:rPr lang="en-IN" sz="1100" spc="360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IoT </a:t>
            </a:r>
            <a:r>
              <a:rPr lang="en-IN" sz="1100" dirty="0">
                <a:latin typeface="Arial MT"/>
                <a:cs typeface="Arial MT"/>
              </a:rPr>
              <a:t>system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for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emergency</a:t>
            </a:r>
            <a:r>
              <a:rPr lang="en-IN" sz="1100" spc="22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assistance</a:t>
            </a:r>
            <a:r>
              <a:rPr lang="en-IN" sz="1100" spc="24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and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mountaineering,”</a:t>
            </a:r>
            <a:r>
              <a:rPr lang="en-IN" sz="1100" spc="24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Int.</a:t>
            </a:r>
            <a:r>
              <a:rPr lang="en-IN" sz="1100" spc="235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J.</a:t>
            </a:r>
            <a:r>
              <a:rPr lang="en-IN" sz="1100" spc="229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Safety</a:t>
            </a:r>
            <a:r>
              <a:rPr lang="en-IN" sz="1100" spc="215" dirty="0">
                <a:latin typeface="Arial MT"/>
                <a:cs typeface="Arial MT"/>
              </a:rPr>
              <a:t> </a:t>
            </a:r>
            <a:r>
              <a:rPr lang="en-IN" sz="1100" spc="-25" dirty="0">
                <a:latin typeface="Arial MT"/>
                <a:cs typeface="Arial MT"/>
              </a:rPr>
              <a:t>and </a:t>
            </a:r>
            <a:r>
              <a:rPr lang="en-IN" sz="1100" dirty="0">
                <a:latin typeface="Arial MT"/>
                <a:cs typeface="Arial MT"/>
              </a:rPr>
              <a:t>Security</a:t>
            </a:r>
            <a:r>
              <a:rPr lang="en-IN" sz="1100" spc="-50" dirty="0">
                <a:latin typeface="Arial MT"/>
                <a:cs typeface="Arial MT"/>
              </a:rPr>
              <a:t> </a:t>
            </a:r>
            <a:r>
              <a:rPr lang="en-IN" sz="1100" dirty="0">
                <a:latin typeface="Arial MT"/>
                <a:cs typeface="Arial MT"/>
              </a:rPr>
              <a:t>Engineering,</a:t>
            </a:r>
            <a:r>
              <a:rPr lang="en-IN" sz="1100" spc="-20" dirty="0">
                <a:latin typeface="Arial MT"/>
                <a:cs typeface="Arial MT"/>
              </a:rPr>
              <a:t> vol.</a:t>
            </a:r>
            <a:endParaRPr lang="en-IN" sz="11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25C6C21-BF93-D395-A3D3-7E47638AFBC7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5A0187A-EF56-FFB7-7BC8-189FEA86B5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EA2249A-4A9E-4B2C-91ED-F8A1A225A18A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C4DCDF-F411-0373-45DD-CDBE7EF14E7B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1" y="-4761"/>
            <a:ext cx="9153525" cy="6481759"/>
            <a:chOff x="-4761" y="-4761"/>
            <a:chExt cx="9153525" cy="65595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0" y="-25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9144000" y="646328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6430"/>
            </a:xfrm>
            <a:custGeom>
              <a:avLst/>
              <a:gdLst/>
              <a:ahLst/>
              <a:cxnLst/>
              <a:rect l="l" t="t" r="r" b="b"/>
              <a:pathLst>
                <a:path w="9144000" h="646430">
                  <a:moveTo>
                    <a:pt x="9144000" y="646302"/>
                  </a:moveTo>
                  <a:lnTo>
                    <a:pt x="0" y="646302"/>
                  </a:lnTo>
                  <a:lnTo>
                    <a:pt x="0" y="0"/>
                  </a:lnTo>
                  <a:lnTo>
                    <a:pt x="9144000" y="0"/>
                  </a:lnTo>
                </a:path>
              </a:pathLst>
            </a:custGeom>
            <a:grpFill/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3448" y="2620086"/>
            <a:ext cx="373710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F487C"/>
                </a:solidFill>
              </a:rPr>
              <a:t>THANK</a:t>
            </a:r>
            <a:r>
              <a:rPr sz="4000" spc="-250" dirty="0">
                <a:solidFill>
                  <a:srgbClr val="1F487C"/>
                </a:solidFill>
              </a:rPr>
              <a:t> </a:t>
            </a:r>
            <a:r>
              <a:rPr sz="4000" spc="-25" dirty="0">
                <a:solidFill>
                  <a:srgbClr val="1F487C"/>
                </a:solidFill>
              </a:rPr>
              <a:t>YOU</a:t>
            </a:r>
            <a:r>
              <a:rPr lang="en-IN" sz="4000" spc="-25" dirty="0">
                <a:solidFill>
                  <a:srgbClr val="1F487C"/>
                </a:solidFill>
              </a:rPr>
              <a:t> !</a:t>
            </a:r>
            <a:endParaRPr sz="4000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6A19626-64B1-C3BB-9A6A-2BE955793731}"/>
              </a:ext>
            </a:extLst>
          </p:cNvPr>
          <p:cNvGrpSpPr/>
          <p:nvPr/>
        </p:nvGrpSpPr>
        <p:grpSpPr>
          <a:xfrm>
            <a:off x="76200" y="6419850"/>
            <a:ext cx="9144000" cy="165100"/>
            <a:chOff x="0" y="6419850"/>
            <a:chExt cx="9144000" cy="1651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F6EB1DF-055F-8435-8ED6-360EDE387F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19850"/>
              <a:ext cx="9143999" cy="1651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080889A-7B7A-5526-C255-B1B02C66CBA1}"/>
                </a:ext>
              </a:extLst>
            </p:cNvPr>
            <p:cNvSpPr/>
            <p:nvPr/>
          </p:nvSpPr>
          <p:spPr>
            <a:xfrm>
              <a:off x="0" y="64770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38098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705902A-33C1-7F48-856E-DD0A53FA7FBC}"/>
              </a:ext>
            </a:extLst>
          </p:cNvPr>
          <p:cNvSpPr txBox="1"/>
          <p:nvPr/>
        </p:nvSpPr>
        <p:spPr>
          <a:xfrm>
            <a:off x="2205612" y="6419850"/>
            <a:ext cx="473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Department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Electronics</a:t>
            </a:r>
            <a:r>
              <a:rPr lang="en-IN"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1781</Words>
  <Application>Microsoft Office PowerPoint</Application>
  <PresentationFormat>On-screen Show 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Comic Sans MS</vt:lpstr>
      <vt:lpstr>Segoe UI Symbol</vt:lpstr>
      <vt:lpstr>Times New Roman</vt:lpstr>
      <vt:lpstr>Office Theme</vt:lpstr>
      <vt:lpstr>Yeshwantrao Chavan College of Engineering Department of Electronics Engineering</vt:lpstr>
      <vt:lpstr>Contents</vt:lpstr>
      <vt:lpstr>Introduction</vt:lpstr>
      <vt:lpstr>Problem Statement</vt:lpstr>
      <vt:lpstr>OBJECTIVE</vt:lpstr>
      <vt:lpstr>Project Scope</vt:lpstr>
      <vt:lpstr>Block Diagram &amp; Implementation</vt:lpstr>
      <vt:lpstr>PowerPoint Presentation</vt:lpstr>
      <vt:lpstr>Literature Survey</vt:lpstr>
      <vt:lpstr>Literature Survey</vt:lpstr>
      <vt:lpstr>Methodology</vt:lpstr>
      <vt:lpstr>Tools Techniques &amp; Resources Used</vt:lpstr>
      <vt:lpstr>PowerPoint Presentation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PPT template_2025-26.ppt</dc:title>
  <dc:creator>RAKSHAT</dc:creator>
  <cp:lastModifiedBy>Mrunali Jibhakate</cp:lastModifiedBy>
  <cp:revision>1</cp:revision>
  <dcterms:created xsi:type="dcterms:W3CDTF">2026-04-20T03:11:34Z</dcterms:created>
  <dcterms:modified xsi:type="dcterms:W3CDTF">2026-04-20T03:52:41Z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2026-04-20T00:00:00Z</vt:filetime>
  </property>
  <property fmtid="{D5CDD505-2E9C-101B-9397-08002B2CF9AE}" pid="5" name="Producer">
    <vt:lpwstr>Microsoft® PowerPoint® 2019</vt:lpwstr>
  </property>
</Properties>
</file>